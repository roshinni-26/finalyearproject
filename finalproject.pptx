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70" r:id="rId9"/>
    <p:sldId id="269" r:id="rId10"/>
    <p:sldId id="271" r:id="rId11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2F3FE-55F5-425B-951C-FAA32BFA66B2}" v="15" dt="2026-06-24T16:54:12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7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38B4073-D0BF-F77C-A22D-FBB43E44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5AC9564D-5DD6-C056-1AE0-D894B8E9C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4B717F63-FFCF-8869-9744-743367D0F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30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-735117" y="2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2918977" y="1670097"/>
            <a:ext cx="5955958" cy="130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US" sz="2800" dirty="0"/>
              <a:t>AI-Based Heart Disease Risk Prediction and Remote Monitoring System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5006339" y="3530963"/>
            <a:ext cx="5257801" cy="12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NIVETHA S (23CSR152)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ROSHINNI S(23CSR182)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SABARNA K B(23CSR185)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2918977" y="640716"/>
            <a:ext cx="6312310" cy="3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 PHASE II </a:t>
            </a:r>
            <a:endParaRPr sz="24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453466" y="1101213"/>
            <a:ext cx="5236209" cy="41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Zeroth </a:t>
            </a:r>
            <a:r>
              <a:rPr lang="en-US" sz="26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sz="26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612128" y="4592486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Date:25.06.2026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22B79-C6DA-2687-07DA-DEE7BA722688}"/>
              </a:ext>
            </a:extLst>
          </p:cNvPr>
          <p:cNvSpPr txBox="1"/>
          <p:nvPr/>
        </p:nvSpPr>
        <p:spPr>
          <a:xfrm>
            <a:off x="2459353" y="5973648"/>
            <a:ext cx="5770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0"/>
            <a:r>
              <a:rPr lang="en-IN" sz="1600" b="1" spc="-10" dirty="0">
                <a:latin typeface="Times New Roman"/>
                <a:cs typeface="Times New Roman"/>
              </a:rPr>
              <a:t>MENTOR : Ms K </a:t>
            </a:r>
            <a:r>
              <a:rPr lang="en-IN" sz="1600" b="1" spc="-10" dirty="0" err="1">
                <a:latin typeface="Times New Roman"/>
                <a:cs typeface="Times New Roman"/>
              </a:rPr>
              <a:t>Kannukkiniyal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700" lvl="0"/>
            <a:r>
              <a:rPr lang="en-IN" sz="1600" b="1" i="0" spc="-1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IN" sz="1600" b="1" i="0" spc="-1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1600" b="1" spc="-1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ssisstant</a:t>
            </a:r>
            <a:r>
              <a:rPr lang="en-IN" sz="1600" b="1" spc="-1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Professor  / CSE</a:t>
            </a:r>
            <a:endParaRPr lang="en-IN" sz="16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497460" y="1097570"/>
            <a:ext cx="3454065" cy="12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Problem Statement</a:t>
            </a:r>
            <a:br>
              <a:rPr lang="en-US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285272" y="1931405"/>
            <a:ext cx="8006211" cy="313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Cardiovascular Disease (CVD) is one of the leading causes of mortality worldwide.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 Early diagnosis remains challenging due to complex and heterogeneous patient data.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Existing prediction systems mainly focus on accuracy and lack interpretability.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Wearable sensor data often contains noise and missing values.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 Real-time patient monitoring and early risk alerts are limited.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Need an accurate, explainable, and real-time heart disease prediction system.</a:t>
            </a:r>
            <a:endParaRPr lang="en-US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63175" y="528854"/>
            <a:ext cx="406863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z="3600" dirty="0">
                <a:solidFill>
                  <a:srgbClr val="FF0000"/>
                </a:solidFill>
              </a:rPr>
              <a:t>Literature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168795" y="1382281"/>
            <a:ext cx="8275899" cy="451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r>
              <a:rPr lang="en-IN" dirty="0"/>
              <a:t>Paper 1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Applying AI to Wearable Sensor Data to Diagnose and Predict Cardiovascular Disease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Uses wearable ECG and sensor data.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Applies Machine Learning and Deep Learning techniques.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Improves cardiovascular risk prediction.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Limited explainability and real-world deployment. </a:t>
            </a:r>
          </a:p>
          <a:p>
            <a:r>
              <a:rPr lang="en-IN" dirty="0"/>
              <a:t>Paper 2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AI-Enabled Remote Patient Monitoring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Integrates AI with IoT-based healthcare monitoring.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Enables continuous patient observation.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Supports early health deterioration detection.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Faces privacy and latency challenges.</a:t>
            </a:r>
          </a:p>
          <a:p>
            <a:pPr marL="5715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46424" y="652477"/>
            <a:ext cx="496178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Literature Survey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8B094-5E91-E61D-6DC2-BE2935987DCE}"/>
              </a:ext>
            </a:extLst>
          </p:cNvPr>
          <p:cNvSpPr txBox="1"/>
          <p:nvPr/>
        </p:nvSpPr>
        <p:spPr>
          <a:xfrm>
            <a:off x="1546424" y="1501590"/>
            <a:ext cx="577860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Paper 3</a:t>
            </a: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Heart Disease Prediction using Machine Learning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Uses clinical patient records.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Employs SVM, Random Forest, and </a:t>
            </a:r>
            <a:r>
              <a:rPr lang="en-IN" sz="2000" dirty="0" err="1"/>
              <a:t>XGBoost</a:t>
            </a:r>
            <a:r>
              <a:rPr lang="en-IN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Achieves high prediction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real-time monitoring support.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Comparative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studies focus mainly on prediction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integration of Explainable AI.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Lack of clinician-friendly decision support.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72064" y="719516"/>
            <a:ext cx="3098259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/>
            <a:r>
              <a:rPr lang="en-IN" sz="3600" dirty="0">
                <a:solidFill>
                  <a:srgbClr val="FF0000"/>
                </a:solidFill>
              </a:rPr>
              <a:t>Research Gap</a:t>
            </a:r>
            <a:br>
              <a:rPr lang="en-IN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395083" y="1681549"/>
            <a:ext cx="8563183" cy="282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Most models operate as black-box systems.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Lack of transparency in prediction decisions.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Insufficient integration of wearable sensor data.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Poor handling of noisy and imbalanced datasets.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Limited support for real-time monitoring.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Need for interpretable and deployable healthcare solutions.</a:t>
            </a: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61289" y="120072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Objectives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7F38C-8ED7-6C6A-73C5-187B6FE90C3D}"/>
              </a:ext>
            </a:extLst>
          </p:cNvPr>
          <p:cNvSpPr txBox="1"/>
          <p:nvPr/>
        </p:nvSpPr>
        <p:spPr>
          <a:xfrm>
            <a:off x="1172798" y="1912186"/>
            <a:ext cx="5825613" cy="28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/>
              <a:t>Predict heart disease risk accurately. </a:t>
            </a:r>
          </a:p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/>
              <a:t>Integrate wearable sensor and clinical data. Handle missing values and class imbalance. Apply Explainable AI techniques. </a:t>
            </a:r>
          </a:p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/>
              <a:t>Develop a real-time monitoring dashboard. Generate personalized risk alerts.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31294" y="901591"/>
            <a:ext cx="6303946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Novelty (Base Paper)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140476" y="1180433"/>
            <a:ext cx="8714232" cy="328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Uses AI for cardiovascular disease prediction.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Employs wearable sensors for health monitoring.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Supports remote patient monitoring.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Uses ML and DL algorithms for classification.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Provides automated disease risk assessment.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51456" y="986774"/>
            <a:ext cx="5994918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Proposed Novelty (Our Work)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016978" y="1785606"/>
            <a:ext cx="8563183" cy="328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Hybrid </a:t>
            </a:r>
            <a:r>
              <a:rPr lang="en-IN" b="0" dirty="0" err="1"/>
              <a:t>XGBoost</a:t>
            </a:r>
            <a:r>
              <a:rPr lang="en-IN" b="0" dirty="0"/>
              <a:t> + Deep Learning Framework.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SHAP-based Explainable AI Dashboard.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Real-time heart disease risk monitoring.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Personalized risk-factor visualization.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Early warning and alert generation.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Improved interpretability for clinicians.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Better trust and adoption in healthcare.</a:t>
            </a:r>
          </a:p>
        </p:txBody>
      </p:sp>
    </p:spTree>
    <p:extLst>
      <p:ext uri="{BB962C8B-B14F-4D97-AF65-F5344CB8AC3E}">
        <p14:creationId xmlns:p14="http://schemas.microsoft.com/office/powerpoint/2010/main" val="365630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936955" y="678427"/>
            <a:ext cx="6431541" cy="538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r>
              <a:rPr lang="en-IN" sz="2400" b="0" dirty="0"/>
              <a:t>Clinical Data + Wearable Sensor Data</a:t>
            </a:r>
            <a:br>
              <a:rPr lang="en-IN" sz="2400" b="0" dirty="0"/>
            </a:br>
            <a:r>
              <a:rPr lang="en-IN" sz="2400" b="0" dirty="0"/>
              <a:t>	⬇</a:t>
            </a:r>
            <a:br>
              <a:rPr lang="en-IN" sz="2400" b="0" dirty="0"/>
            </a:br>
            <a:r>
              <a:rPr lang="en-IN" sz="2400" b="0" dirty="0"/>
              <a:t>Data Preprocessing</a:t>
            </a:r>
            <a:br>
              <a:rPr lang="en-IN" sz="2400" b="0" dirty="0"/>
            </a:br>
            <a:r>
              <a:rPr lang="en-IN" sz="2400" b="0" dirty="0"/>
              <a:t>	⬇</a:t>
            </a:r>
            <a:br>
              <a:rPr lang="en-IN" sz="2400" b="0" dirty="0"/>
            </a:br>
            <a:r>
              <a:rPr lang="en-IN" sz="2400" b="0" dirty="0"/>
              <a:t>Feature Selection &amp; Engineering</a:t>
            </a:r>
            <a:br>
              <a:rPr lang="en-IN" sz="2400" b="0" dirty="0"/>
            </a:br>
            <a:r>
              <a:rPr lang="en-IN" sz="2400" b="0" dirty="0"/>
              <a:t>	⬇</a:t>
            </a:r>
            <a:br>
              <a:rPr lang="en-IN" sz="2400" b="0" dirty="0"/>
            </a:br>
            <a:r>
              <a:rPr lang="en-IN" sz="2400" b="0" dirty="0"/>
              <a:t>Hybrid ML/DL Model</a:t>
            </a:r>
            <a:br>
              <a:rPr lang="en-IN" sz="2400" b="0" dirty="0"/>
            </a:br>
            <a:r>
              <a:rPr lang="en-IN" sz="2400" b="0" dirty="0"/>
              <a:t>	⬇</a:t>
            </a:r>
            <a:br>
              <a:rPr lang="en-IN" sz="2400" b="0" dirty="0"/>
            </a:br>
            <a:r>
              <a:rPr lang="en-IN" sz="2400" b="0" dirty="0"/>
              <a:t>SHAP Explainability Module</a:t>
            </a:r>
            <a:br>
              <a:rPr lang="en-IN" sz="2400" b="0" dirty="0"/>
            </a:br>
            <a:r>
              <a:rPr lang="en-IN" sz="2400" b="0" dirty="0"/>
              <a:t>	⬇</a:t>
            </a:r>
            <a:br>
              <a:rPr lang="en-IN" sz="2400" b="0" dirty="0"/>
            </a:br>
            <a:r>
              <a:rPr lang="en-IN" sz="2400" b="0" dirty="0"/>
              <a:t>Risk Prediction Dashboard</a:t>
            </a:r>
            <a:br>
              <a:rPr lang="en-IN" sz="2400" b="0" dirty="0"/>
            </a:br>
            <a:r>
              <a:rPr lang="en-IN" sz="2400" b="0" dirty="0"/>
              <a:t>	⬇</a:t>
            </a:r>
            <a:br>
              <a:rPr lang="en-IN" sz="2400" b="0" dirty="0"/>
            </a:br>
            <a:r>
              <a:rPr lang="en-IN" sz="2400" b="0" dirty="0"/>
              <a:t>Real-Time Alerts &amp; Monitoring</a:t>
            </a:r>
            <a:br>
              <a:rPr lang="en-IN" sz="2400" b="0" dirty="0"/>
            </a:br>
            <a:endParaRPr sz="2400" b="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AAA2BB3-2BFD-98A6-4EF8-F8DEC490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A926CF84-9795-8221-8624-BF595B61C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9943" y="285415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AC595E53-6473-46FE-8006-3DB2507BAD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695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488</Words>
  <Application>Microsoft Office PowerPoint</Application>
  <PresentationFormat>On-screen Show (4:3)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AI-Based Heart Disease Risk Prediction and Remote Monitoring System</vt:lpstr>
      <vt:lpstr>Problem Statement </vt:lpstr>
      <vt:lpstr>Literature Survey</vt:lpstr>
      <vt:lpstr>Literature Survey</vt:lpstr>
      <vt:lpstr>Research Gap </vt:lpstr>
      <vt:lpstr>Objectives</vt:lpstr>
      <vt:lpstr>Novelty (Base Paper)</vt:lpstr>
      <vt:lpstr>Proposed Novelty (Our Work)</vt:lpstr>
      <vt:lpstr>Clinical Data + Wearable Sensor Data  ⬇ Data Preprocessing  ⬇ Feature Selection &amp; Engineering  ⬇ Hybrid ML/DL Model  ⬇ SHAP Explainability Module  ⬇ Risk Prediction Dashboard  ⬇ Real-Time Alerts &amp; Monitoring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roshinnisasikumar@hotmail.com</cp:lastModifiedBy>
  <cp:revision>20</cp:revision>
  <dcterms:created xsi:type="dcterms:W3CDTF">2025-02-28T03:17:42Z</dcterms:created>
  <dcterms:modified xsi:type="dcterms:W3CDTF">2026-06-25T10:07:54Z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